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fGymWl2k131Jik5TKFIUjbAQY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5B8C0F-7DBB-451F-BDC6-A51ED4348CAA}">
  <a:tblStyle styleId="{DA5B8C0F-7DBB-451F-BDC6-A51ED4348CA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23f170ca7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23f170ca7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23f170ca7_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23f170ca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atsonx.a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a:t>
            </a:r>
            <a:r>
              <a:rPr b="1" i="1" lang="en-US"/>
              <a:t>watsonx Orchestrate</a:t>
            </a:r>
            <a:r>
              <a:rPr b="1" i="1" lang="en-US"/>
              <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{DA5B8C0F-7DBB-451F-BDC6-A51ED4348CAA}</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Farhana Siddiqui</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farhana.siddiqui1977@gmail.com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8850191881</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i="0" lang="en-US" sz="2400" u="none" cap="none" strike="noStrike">
                <a:solidFill>
                  <a:srgbClr val="000000"/>
                </a:solidFill>
                <a:highlight>
                  <a:srgbClr val="FFFF00"/>
                </a:highlight>
                <a:latin typeface="Arial"/>
                <a:ea typeface="Arial"/>
                <a:cs typeface="Arial"/>
                <a:sym typeface="Arial"/>
              </a:rPr>
              <a:t> Education </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400">
                <a:highlight>
                  <a:srgbClr val="FFFF00"/>
                </a:highlight>
              </a:rPr>
              <a:t>AdmissionGPT</a:t>
            </a:r>
            <a:endParaRPr b="1" i="0" sz="2400" u="none" cap="none" strike="noStrike">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4"/>
          <p:cNvSpPr txBox="1"/>
          <p:nvPr/>
        </p:nvSpPr>
        <p:spPr>
          <a:xfrm>
            <a:off x="576072" y="1234440"/>
            <a:ext cx="10607100" cy="5307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2200">
                <a:solidFill>
                  <a:schemeClr val="dk1"/>
                </a:solidFill>
              </a:rPr>
              <a:t>Problem Statement: AdmissionGPT</a:t>
            </a:r>
            <a:endParaRPr b="1"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Choosing the right college and course is a challenging process for students and parents due to scattered information about colleges, admission criteria, cutoffs, fees, rankings, placements, and eligibility requirements. Students often find it difficult to compare colleges, analyze previous year admission trends, and make decisions according to their academic performance, interests, budget, and career goals.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objective is to build an AI-powered Admission Agent that provides personalized college recommendations and admission guidance. The system retrieves reliable admission data such as rankings, accreditation, eligibility criteria, opening and closing ranks, category-wise cutoffs, state quota details, fees, hostel information, and placement records. It helps students shortlist suitable colleges, compare options, estimate admission chances, and receive guidance throughout the admission process.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solution uses a multi-agent approach including an Admission Knowledge Agent for collecting college data, a College Recommendation Agent for suggesting suitable colleges and branches, an Admission Advisory Agent for counseling and application support, and a College Comparison Agent for decision-making. A visualization dashboard displays college comparisons, cutoff trends, admission probability, deadlines, and student progress to make the admission journey easier and more informed.</a:t>
            </a:r>
            <a:endParaRPr sz="1500">
              <a:solidFill>
                <a:schemeClr val="dk1"/>
              </a:solidFill>
            </a:endParaRPr>
          </a:p>
          <a:p>
            <a:pPr indent="0" lvl="0" marL="0" marR="0" rtl="0" algn="l">
              <a:lnSpc>
                <a:spcPct val="100000"/>
              </a:lnSpc>
              <a:spcBef>
                <a:spcPts val="1200"/>
              </a:spcBef>
              <a:spcAft>
                <a:spcPts val="0"/>
              </a:spcAft>
              <a:buNone/>
            </a:pPr>
            <a:r>
              <a:t/>
            </a:r>
            <a:endParaRPr b="1" sz="18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5"/>
          <p:cNvSpPr txBox="1"/>
          <p:nvPr/>
        </p:nvSpPr>
        <p:spPr>
          <a:xfrm>
            <a:off x="667512" y="1165753"/>
            <a:ext cx="10607100" cy="289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Tech Stack (Mandatory)</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Use </a:t>
            </a:r>
            <a:r>
              <a:rPr b="1" i="0" lang="en-US" sz="1400" u="none" cap="none" strike="noStrike">
                <a:solidFill>
                  <a:srgbClr val="000000"/>
                </a:solidFill>
                <a:latin typeface="Arial"/>
                <a:ea typeface="Arial"/>
                <a:cs typeface="Arial"/>
                <a:sym typeface="Arial"/>
              </a:rPr>
              <a:t>any one</a:t>
            </a:r>
            <a:r>
              <a:rPr b="0" i="0" lang="en-US" sz="1400" u="none" cap="none" strike="noStrike">
                <a:solidFill>
                  <a:srgbClr val="000000"/>
                </a:solidFill>
                <a:latin typeface="Arial"/>
                <a:ea typeface="Arial"/>
                <a:cs typeface="Arial"/>
                <a:sym typeface="Arial"/>
              </a:rPr>
              <a:t> of the following approaches: </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LangFlow + IBM watsonx.ai + Granite Models </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IBM Cloud Agentic Lab with IBM Granite Models </a:t>
            </a:r>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Replicate with LangChain + RAG + IBM Granite Models</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 used </a:t>
            </a:r>
            <a:r>
              <a:rPr lang="en-US">
                <a:highlight>
                  <a:srgbClr val="FFFF00"/>
                </a:highlight>
              </a:rPr>
              <a:t> </a:t>
            </a:r>
            <a:r>
              <a:rPr b="0" i="0" lang="en-US" sz="1400" u="none" cap="none" strike="noStrike">
                <a:solidFill>
                  <a:srgbClr val="000000"/>
                </a:solidFill>
                <a:highlight>
                  <a:srgbClr val="FFFF00"/>
                </a:highlight>
                <a:latin typeface="Arial"/>
                <a:ea typeface="Arial"/>
                <a:cs typeface="Arial"/>
                <a:sym typeface="Arial"/>
              </a:rPr>
              <a:t>IBM watsonx.ai + Granite Models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6"/>
          <p:cNvSpPr txBox="1"/>
          <p:nvPr/>
        </p:nvSpPr>
        <p:spPr>
          <a:xfrm>
            <a:off x="576072" y="1234440"/>
            <a:ext cx="10607100" cy="405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rPr>
              <a:t>Proposed Solution: </a:t>
            </a:r>
            <a:r>
              <a:rPr b="1" lang="en-US" sz="2200">
                <a:solidFill>
                  <a:schemeClr val="dk1"/>
                </a:solidFill>
              </a:rPr>
              <a:t>AdmissionGPT</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proposed solution is an AI-powered Engineering College Comparison Agent that helps students compare Mumbai engineering colleges and make informed admission decisions. The system uses a RAG pipeline to collect reliable data from college websites and educational databases, providing information about rankings, fees, placements, accreditation, eligibility, and previous year cutoff trends.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system includes AI agents such as a </a:t>
            </a:r>
            <a:r>
              <a:rPr b="1" lang="en-US" sz="1500">
                <a:solidFill>
                  <a:schemeClr val="dk1"/>
                </a:solidFill>
              </a:rPr>
              <a:t>College Knowledge Agent</a:t>
            </a:r>
            <a:r>
              <a:rPr lang="en-US" sz="1500">
                <a:solidFill>
                  <a:schemeClr val="dk1"/>
                </a:solidFill>
              </a:rPr>
              <a:t> for retrieving college details, a </a:t>
            </a:r>
            <a:r>
              <a:rPr b="1" lang="en-US" sz="1500">
                <a:solidFill>
                  <a:schemeClr val="dk1"/>
                </a:solidFill>
              </a:rPr>
              <a:t>College Recommendation Agent</a:t>
            </a:r>
            <a:r>
              <a:rPr lang="en-US" sz="1500">
                <a:solidFill>
                  <a:schemeClr val="dk1"/>
                </a:solidFill>
              </a:rPr>
              <a:t> for suggesting suitable colleges based on rank, category, branch, and preferences, and a </a:t>
            </a:r>
            <a:r>
              <a:rPr b="1" lang="en-US" sz="1500">
                <a:solidFill>
                  <a:schemeClr val="dk1"/>
                </a:solidFill>
              </a:rPr>
              <a:t>College Comparison Agent</a:t>
            </a:r>
            <a:r>
              <a:rPr lang="en-US" sz="1500">
                <a:solidFill>
                  <a:schemeClr val="dk1"/>
                </a:solidFill>
              </a:rPr>
              <a:t> for analyzing fees, placements, infrastructure, and academics. A dashboard displays college comparisons, cutoff analysis, placement details, and personalized recommendations using IBM </a:t>
            </a:r>
            <a:r>
              <a:rPr lang="en-US" sz="1500" u="sng">
                <a:solidFill>
                  <a:schemeClr val="hlink"/>
                </a:solidFill>
                <a:hlinkClick r:id="rId3"/>
              </a:rPr>
              <a:t>watsonx.ai</a:t>
            </a:r>
            <a:r>
              <a:rPr lang="en-US" sz="1500">
                <a:solidFill>
                  <a:schemeClr val="dk1"/>
                </a:solidFill>
              </a:rPr>
              <a:t> models.</a:t>
            </a:r>
            <a:endParaRPr sz="1500">
              <a:solidFill>
                <a:schemeClr val="dk1"/>
              </a:solidFill>
            </a:endParaRPr>
          </a:p>
          <a:p>
            <a:pPr indent="0" lvl="0" marL="0" marR="0" rtl="0" algn="l">
              <a:lnSpc>
                <a:spcPct val="100000"/>
              </a:lnSpc>
              <a:spcBef>
                <a:spcPts val="1200"/>
              </a:spcBef>
              <a:spcAft>
                <a:spcPts val="0"/>
              </a:spcAft>
              <a:buNone/>
            </a:pPr>
            <a:r>
              <a:t/>
            </a:r>
            <a:endParaRPr b="1" sz="1800"/>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05" name="Google Shape;105;p36"/>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a:solidFill>
                  <a:schemeClr val="dk1"/>
                </a:solidFill>
              </a:rPr>
              <a:t>IBM watsonx </a:t>
            </a:r>
            <a:r>
              <a:rPr b="1" lang="en-US" sz="2400"/>
              <a:t>component</a:t>
            </a:r>
            <a:r>
              <a:rPr b="1" i="0" lang="en-US" sz="2400" u="none" cap="none" strike="noStrike">
                <a:solidFill>
                  <a:srgbClr val="000000"/>
                </a:solidFill>
                <a:latin typeface="Arial"/>
                <a:ea typeface="Arial"/>
                <a:cs typeface="Arial"/>
                <a:sym typeface="Arial"/>
              </a:rPr>
              <a:t> Used -</a:t>
            </a:r>
            <a:endParaRPr b="1" i="0" sz="2400" u="none" cap="none" strike="noStrike">
              <a:solidFill>
                <a:srgbClr val="000000"/>
              </a:solidFill>
              <a:latin typeface="Arial"/>
              <a:ea typeface="Arial"/>
              <a:cs typeface="Arial"/>
              <a:sym typeface="Arial"/>
            </a:endParaRPr>
          </a:p>
        </p:txBody>
      </p:sp>
      <p:sp>
        <p:nvSpPr>
          <p:cNvPr id="111" name="Google Shape;111;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2" name="Google Shape;112;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3" name="Google Shape;113;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37"/>
          <p:cNvSpPr txBox="1"/>
          <p:nvPr/>
        </p:nvSpPr>
        <p:spPr>
          <a:xfrm>
            <a:off x="474822" y="863187"/>
            <a:ext cx="8823900" cy="608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AutoNum type="arabicPeriod"/>
            </a:pPr>
            <a:r>
              <a:rPr b="1" lang="en-US" sz="1500">
                <a:solidFill>
                  <a:schemeClr val="dk1"/>
                </a:solidFill>
              </a:rPr>
              <a:t>Chat Input</a:t>
            </a:r>
            <a:r>
              <a:rPr lang="en-US" sz="1500">
                <a:solidFill>
                  <a:schemeClr val="dk1"/>
                </a:solidFill>
              </a:rPr>
              <a:t> – Interface where users enter their queries, preferences, academic details, rank/score, category, and desired engineering branch.</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IBM watsonx AI Agent</a:t>
            </a:r>
            <a:r>
              <a:rPr lang="en-US" sz="1500">
                <a:solidFill>
                  <a:schemeClr val="dk1"/>
                </a:solidFill>
              </a:rPr>
              <a:t> – Processes user input using Granite models to generate personalized college recommendations and comparison insights.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Name of IBM Granite model</a:t>
            </a:r>
            <a:r>
              <a:rPr lang="en-US" sz="1500">
                <a:solidFill>
                  <a:schemeClr val="dk1"/>
                </a:solidFill>
              </a:rPr>
              <a:t> – </a:t>
            </a:r>
            <a:r>
              <a:rPr b="1" lang="en-US" sz="1500">
                <a:solidFill>
                  <a:schemeClr val="dk1"/>
                </a:solidFill>
              </a:rPr>
              <a:t>Granite-4.0-8B-Instruct</a:t>
            </a:r>
            <a:r>
              <a:rPr lang="en-US" sz="1500">
                <a:solidFill>
                  <a:schemeClr val="dk1"/>
                </a:solidFill>
              </a:rPr>
              <a:t> → Fast and efficient for real-time college analysis, ranking comparison, and admission guidance.</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Chat output</a:t>
            </a:r>
            <a:r>
              <a:rPr lang="en-US" sz="1500">
                <a:solidFill>
                  <a:schemeClr val="dk1"/>
                </a:solidFill>
              </a:rPr>
              <a:t> – Displays AI-generated responses such as recommended colleges, cutoff analysis, placement details, fee comparison, and admission suggestions.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File component</a:t>
            </a:r>
            <a:r>
              <a:rPr lang="en-US" sz="1500">
                <a:solidFill>
                  <a:schemeClr val="dk1"/>
                </a:solidFill>
              </a:rPr>
              <a:t> – Stores and retrieves college datasets, cutoff records, placement information, fees, and course details for comparison and analysis.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b="1" lang="en-US" sz="1500">
                <a:solidFill>
                  <a:schemeClr val="dk1"/>
                </a:solidFill>
              </a:rPr>
              <a:t>Vector Database / Retriever Component</a:t>
            </a:r>
            <a:r>
              <a:rPr lang="en-US" sz="1500">
                <a:solidFill>
                  <a:schemeClr val="dk1"/>
                </a:solidFill>
              </a:rPr>
              <a:t> – Used for RAG-based retrieval of relevant college information from stored datasets and provides accurate responses based on user queries.</a:t>
            </a:r>
            <a:endParaRPr sz="1500">
              <a:solidFill>
                <a:schemeClr val="dk1"/>
              </a:solidFill>
            </a:endParaRPr>
          </a:p>
          <a:p>
            <a:pPr indent="-254000" lvl="0" marL="342900" marR="0" rtl="0" algn="l">
              <a:lnSpc>
                <a:spcPct val="100000"/>
              </a:lnSpc>
              <a:spcBef>
                <a:spcPts val="1200"/>
              </a:spcBef>
              <a:spcAft>
                <a:spcPts val="0"/>
              </a:spcAft>
              <a:buClr>
                <a:srgbClr val="000000"/>
              </a:buClr>
              <a:buSzPts val="1400"/>
              <a:buFont typeface="Arial"/>
              <a:buNone/>
            </a:pPr>
            <a:r>
              <a:t/>
            </a:r>
            <a:endParaRPr b="1" sz="1800"/>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f23f170ca7_1_1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23" name="Google Shape;123;g3f23f170ca7_1_1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24" name="Google Shape;124;g3f23f170ca7_1_13" title="ChatGPT Image Jun 23, 2026, 10_44_29 PM.png"/>
          <p:cNvPicPr preferRelativeResize="0"/>
          <p:nvPr/>
        </p:nvPicPr>
        <p:blipFill>
          <a:blip r:embed="rId3">
            <a:alphaModFix/>
          </a:blip>
          <a:stretch>
            <a:fillRect/>
          </a:stretch>
        </p:blipFill>
        <p:spPr>
          <a:xfrm>
            <a:off x="885225" y="-94700"/>
            <a:ext cx="10286999" cy="6857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f23f170ca7_1_19"/>
          <p:cNvSpPr txBox="1"/>
          <p:nvPr>
            <p:ph type="title"/>
          </p:nvPr>
        </p:nvSpPr>
        <p:spPr>
          <a:xfrm>
            <a:off x="838200" y="1355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Screen Shot</a:t>
            </a:r>
            <a:endParaRPr/>
          </a:p>
        </p:txBody>
      </p:sp>
      <p:sp>
        <p:nvSpPr>
          <p:cNvPr id="130" name="Google Shape;130;g3f23f170ca7_1_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31" name="Google Shape;131;g3f23f170ca7_1_19"/>
          <p:cNvPicPr preferRelativeResize="0"/>
          <p:nvPr/>
        </p:nvPicPr>
        <p:blipFill>
          <a:blip r:embed="rId3">
            <a:alphaModFix/>
          </a:blip>
          <a:stretch>
            <a:fillRect/>
          </a:stretch>
        </p:blipFill>
        <p:spPr>
          <a:xfrm>
            <a:off x="143475" y="1222732"/>
            <a:ext cx="12192001" cy="55569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8" name="Google Shape;138;p9"/>
          <p:cNvSpPr txBox="1"/>
          <p:nvPr/>
        </p:nvSpPr>
        <p:spPr>
          <a:xfrm>
            <a:off x="621792" y="1167493"/>
            <a:ext cx="7406700" cy="5136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a:t>Agentic AI enables the Mumbai Engineering College Comparison Agent to work as an intelligent decision-support system rather than a basic search tool. Using IBM watsonx.ai and IBM Granite models, it coordinates multiple specialized agents to collect college data, analyze student preferences, and provide personalized college recommendations.</a:t>
            </a:r>
            <a:endParaRPr b="1"/>
          </a:p>
          <a:p>
            <a:pPr indent="0" lvl="0" marL="0" rtl="0" algn="l">
              <a:lnSpc>
                <a:spcPct val="115000"/>
              </a:lnSpc>
              <a:spcBef>
                <a:spcPts val="1200"/>
              </a:spcBef>
              <a:spcAft>
                <a:spcPts val="0"/>
              </a:spcAft>
              <a:buClr>
                <a:schemeClr val="dk1"/>
              </a:buClr>
              <a:buSzPts val="1100"/>
              <a:buFont typeface="Arial"/>
              <a:buNone/>
            </a:pPr>
            <a:r>
              <a:rPr b="1" lang="en-US"/>
              <a:t>Each agent performs a specific role—such as retrieving college information, comparing colleges, analyzing cutoffs, and suggesting suitable options—while working together to generate accurate results. This multi-agent approach helps students efficiently evaluate colleges based on rank, category, branch preference, fees, placements, and location.</a:t>
            </a:r>
            <a:endParaRPr b="1"/>
          </a:p>
          <a:p>
            <a:pPr indent="0" lvl="0" marL="0" rtl="0" algn="l">
              <a:lnSpc>
                <a:spcPct val="115000"/>
              </a:lnSpc>
              <a:spcBef>
                <a:spcPts val="1200"/>
              </a:spcBef>
              <a:spcAft>
                <a:spcPts val="0"/>
              </a:spcAft>
              <a:buClr>
                <a:schemeClr val="dk1"/>
              </a:buClr>
              <a:buSzPts val="1100"/>
              <a:buFont typeface="Arial"/>
              <a:buNone/>
            </a:pPr>
            <a:r>
              <a:rPr b="1" lang="en-US"/>
              <a:t>Agentic AI provides context awareness by understanding student requirements and adapting recommendations according to their academic profile and career goals. It enables real-time analysis of college data and improves decision-making through continuous interaction between agents.</a:t>
            </a:r>
            <a:endParaRPr b="1"/>
          </a:p>
          <a:p>
            <a:pPr indent="0" lvl="0" marL="0" rtl="0" algn="l">
              <a:lnSpc>
                <a:spcPct val="115000"/>
              </a:lnSpc>
              <a:spcBef>
                <a:spcPts val="1200"/>
              </a:spcBef>
              <a:spcAft>
                <a:spcPts val="0"/>
              </a:spcAft>
              <a:buClr>
                <a:schemeClr val="dk1"/>
              </a:buClr>
              <a:buSzPts val="1100"/>
              <a:buFont typeface="Arial"/>
              <a:buNone/>
            </a:pPr>
            <a:r>
              <a:rPr b="1" lang="en-US"/>
              <a:t>Overall, Agentic AI transforms the system into a smart college admission assistant that provides personalized comparisons, reliable insights, and simplified guidance for students selecting engineering colleges.</a:t>
            </a:r>
            <a:endParaRPr b="1"/>
          </a:p>
          <a:p>
            <a:pPr indent="0" lvl="0" marL="0" marR="0" rtl="0" algn="l">
              <a:lnSpc>
                <a:spcPct val="100000"/>
              </a:lnSpc>
              <a:spcBef>
                <a:spcPts val="120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44" name="Google Shape;144;p42"/>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https://github.com/farhanasiddiqui-cmd/AdmissionGPT.git</a:t>
            </a:r>
            <a:endParaRPr b="0" i="0" sz="1850" u="none" cap="none" strike="noStrike">
              <a:solidFill>
                <a:srgbClr val="000000"/>
              </a:solidFill>
              <a:latin typeface="Times New Roman"/>
              <a:ea typeface="Times New Roman"/>
              <a:cs typeface="Times New Roman"/>
              <a:sym typeface="Times New Roman"/>
            </a:endParaRPr>
          </a:p>
        </p:txBody>
      </p:sp>
      <p:sp>
        <p:nvSpPr>
          <p:cNvPr id="145" name="Google Shape;145;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6" name="Google Shape;146;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7" name="Google Shape;147;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3"/>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53" name="Google Shape;153;p43"/>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Scope of the Agent –</a:t>
            </a:r>
            <a:br>
              <a:rPr b="1" lang="en-US" sz="1700">
                <a:solidFill>
                  <a:schemeClr val="dk1"/>
                </a:solidFill>
              </a:rPr>
            </a:br>
            <a:r>
              <a:rPr lang="en-US" sz="1700">
                <a:solidFill>
                  <a:schemeClr val="dk1"/>
                </a:solidFill>
              </a:rPr>
              <a:t> The Mumbai Engineering College Comparison Agent is currently focused only on engineering colleges in Mumbai, providing students with detailed comparisons and recommendations based on available admission, academic, and placement data. In the future, the system can be expanded to cover engineering colleges across India.</a:t>
            </a:r>
            <a:endParaRPr sz="1700">
              <a:solidFill>
                <a:schemeClr val="dk1"/>
              </a:solidFill>
            </a:endParaRPr>
          </a:p>
          <a:p>
            <a:pPr indent="-336550" lvl="0" marL="457200" rtl="0" algn="l">
              <a:lnSpc>
                <a:spcPct val="115000"/>
              </a:lnSpc>
              <a:spcBef>
                <a:spcPts val="1200"/>
              </a:spcBef>
              <a:spcAft>
                <a:spcPts val="0"/>
              </a:spcAft>
              <a:buClr>
                <a:schemeClr val="dk1"/>
              </a:buClr>
              <a:buSzPts val="1700"/>
              <a:buAutoNum type="arabicPeriod"/>
            </a:pPr>
            <a:r>
              <a:rPr b="1" lang="en-US" sz="1700">
                <a:solidFill>
                  <a:schemeClr val="dk1"/>
                </a:solidFill>
              </a:rPr>
              <a:t>Integration with Admission Portals &amp; Real-Time College Data –</a:t>
            </a:r>
            <a:br>
              <a:rPr b="1" lang="en-US" sz="1700">
                <a:solidFill>
                  <a:schemeClr val="dk1"/>
                </a:solidFill>
              </a:rPr>
            </a:br>
            <a:r>
              <a:rPr lang="en-US" sz="1700">
                <a:solidFill>
                  <a:schemeClr val="dk1"/>
                </a:solidFill>
              </a:rPr>
              <a:t> The system can be integrated with official admission portals and college databases to collect real-time information such as cutoff updates, seat availability, fees, course details, and admission notifications. This will enable the College Comparison Agent to provide accurate and updated recommendations based on current admission trends.</a:t>
            </a:r>
            <a:endParaRPr sz="1700">
              <a:solidFill>
                <a:schemeClr val="dk1"/>
              </a:solidFill>
            </a:endParaRPr>
          </a:p>
          <a:p>
            <a:pPr indent="-336550" lvl="0" marL="457200" rtl="0" algn="l">
              <a:lnSpc>
                <a:spcPct val="115000"/>
              </a:lnSpc>
              <a:spcBef>
                <a:spcPts val="0"/>
              </a:spcBef>
              <a:spcAft>
                <a:spcPts val="0"/>
              </a:spcAft>
              <a:buClr>
                <a:schemeClr val="dk1"/>
              </a:buClr>
              <a:buSzPts val="1700"/>
              <a:buAutoNum type="arabicPeriod"/>
            </a:pPr>
            <a:r>
              <a:rPr b="1" lang="en-US" sz="1700">
                <a:solidFill>
                  <a:schemeClr val="dk1"/>
                </a:solidFill>
              </a:rPr>
              <a:t>AI-Powered Voice Assistant &amp; Multilingual Support –</a:t>
            </a:r>
            <a:br>
              <a:rPr b="1" lang="en-US" sz="1700">
                <a:solidFill>
                  <a:schemeClr val="dk1"/>
                </a:solidFill>
              </a:rPr>
            </a:br>
            <a:r>
              <a:rPr lang="en-US" sz="1700">
                <a:solidFill>
                  <a:schemeClr val="dk1"/>
                </a:solidFill>
              </a:rPr>
              <a:t> Enhancing the system with a voice-enabled assistant and multilingual support will improve accessibility for students. Users can interact naturally in their preferred language, making the platform easier to use and helping students from different backgrounds make better college selection decisions.</a:t>
            </a:r>
            <a:endParaRPr sz="1700">
              <a:solidFill>
                <a:schemeClr val="dk1"/>
              </a:solidFill>
            </a:endParaRPr>
          </a:p>
          <a:p>
            <a:pPr indent="0" lvl="0" marL="0" marR="0" rtl="0" algn="l">
              <a:lnSpc>
                <a:spcPct val="162162"/>
              </a:lnSpc>
              <a:spcBef>
                <a:spcPts val="1200"/>
              </a:spcBef>
              <a:spcAft>
                <a:spcPts val="0"/>
              </a:spcAft>
              <a:buClr>
                <a:srgbClr val="2B3541"/>
              </a:buClr>
              <a:buSzPts val="1850"/>
              <a:buFont typeface="Times New Roman"/>
              <a:buNone/>
            </a:pPr>
            <a:r>
              <a:t/>
            </a:r>
            <a:endParaRPr b="1" sz="2650">
              <a:solidFill>
                <a:srgbClr val="2B3541"/>
              </a:solidFill>
              <a:latin typeface="Times New Roman"/>
              <a:ea typeface="Times New Roman"/>
              <a:cs typeface="Times New Roman"/>
              <a:sym typeface="Times New Roman"/>
            </a:endParaRPr>
          </a:p>
        </p:txBody>
      </p:sp>
      <p:sp>
        <p:nvSpPr>
          <p:cNvPr id="154" name="Google Shape;154;p4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5" name="Google Shape;155;p4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6" name="Google Shape;156;p4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